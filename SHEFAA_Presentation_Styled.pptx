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6" r:id="rId3"/>
    <p:sldId id="257" r:id="rId4"/>
    <p:sldId id="258" r:id="rId5"/>
    <p:sldId id="267" r:id="rId6"/>
    <p:sldId id="268" r:id="rId7"/>
    <p:sldId id="269" r:id="rId8"/>
    <p:sldId id="270" r:id="rId9"/>
    <p:sldId id="271" r:id="rId10"/>
    <p:sldId id="272" r:id="rId11"/>
    <p:sldId id="259" r:id="rId12"/>
    <p:sldId id="260" r:id="rId13"/>
    <p:sldId id="273" r:id="rId14"/>
    <p:sldId id="261" r:id="rId15"/>
    <p:sldId id="274" r:id="rId16"/>
    <p:sldId id="276" r:id="rId17"/>
    <p:sldId id="275" r:id="rId18"/>
    <p:sldId id="277" r:id="rId19"/>
    <p:sldId id="278" r:id="rId20"/>
    <p:sldId id="279" r:id="rId21"/>
    <p:sldId id="280" r:id="rId22"/>
    <p:sldId id="262" r:id="rId23"/>
    <p:sldId id="281" r:id="rId24"/>
    <p:sldId id="263" r:id="rId25"/>
    <p:sldId id="264" r:id="rId26"/>
    <p:sldId id="265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0" y="6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720" y="228600"/>
            <a:ext cx="11591573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147" y="5353963"/>
            <a:ext cx="11628139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1600200"/>
            <a:ext cx="10360501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556001"/>
            <a:ext cx="8532178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720" y="228600"/>
            <a:ext cx="11591573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1151" y="4203592"/>
            <a:ext cx="3834240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1518" y="4075290"/>
            <a:ext cx="7390761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0655" y="4087562"/>
            <a:ext cx="7288741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7371" y="4074175"/>
            <a:ext cx="4409518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147" y="4058555"/>
            <a:ext cx="11628139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803" y="2463560"/>
            <a:ext cx="10360501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2679" y="1437449"/>
            <a:ext cx="8554750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1972" y="2679192"/>
            <a:ext cx="5094929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1923" y="2679192"/>
            <a:ext cx="5094929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973" y="2678114"/>
            <a:ext cx="5094929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2875" y="3429001"/>
            <a:ext cx="5092080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5986" y="2678113"/>
            <a:ext cx="5094929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3429001"/>
            <a:ext cx="5094929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720" y="228600"/>
            <a:ext cx="11591573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147" y="714191"/>
            <a:ext cx="11628139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720" y="228600"/>
            <a:ext cx="11591573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3581401"/>
            <a:ext cx="4469236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147" y="714191"/>
            <a:ext cx="11628139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8882" y="2286000"/>
            <a:ext cx="4469236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1001" y="1828800"/>
            <a:ext cx="5204079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720" y="228600"/>
            <a:ext cx="11591573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147" y="5353963"/>
            <a:ext cx="11628139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7182" y="338667"/>
            <a:ext cx="5082203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89421" y="2785533"/>
            <a:ext cx="5089963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309" y="1371600"/>
            <a:ext cx="4753642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720" y="228600"/>
            <a:ext cx="11591573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147" y="714191"/>
            <a:ext cx="11628139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1447801"/>
            <a:ext cx="2742486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447800"/>
            <a:ext cx="802431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720" y="228600"/>
            <a:ext cx="11591573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147" y="1679429"/>
            <a:ext cx="11628139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338328"/>
            <a:ext cx="10969943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3103" y="6250165"/>
            <a:ext cx="5047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17" y="6250165"/>
            <a:ext cx="50476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0065" y="6250164"/>
            <a:ext cx="15486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454" y="2675467"/>
            <a:ext cx="9875205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74320" indent="-274320" algn="r" defTabSz="914400" rtl="1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r" defTabSz="914400" rtl="1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r" defTabSz="914400" rtl="1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r" defTabSz="914400" rtl="1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r" defTabSz="914400" rtl="1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r" defTabSz="914400" rtl="1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r" defTabSz="914400" rtl="1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r" defTabSz="914400" rtl="1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r" defTabSz="914400" rtl="1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dmAyYR5l3x722_ZqerIxIvtu9m7ZV53/view?usp=drive_link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kM8FV5xWTAh-qLEL0l2yT6RvccktvsK/view?usp=drive_link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984902"/>
            <a:ext cx="10360501" cy="178010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sz="7200" b="1" spc="600" dirty="0" smtClean="0">
                <a:solidFill>
                  <a:srgbClr val="0046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SHEFAA</a:t>
            </a:r>
            <a:r>
              <a:rPr lang="ar-EG" sz="3200" dirty="0" smtClean="0">
                <a:solidFill>
                  <a:srgbClr val="00467F"/>
                </a:solidFill>
                <a:latin typeface="Calibri"/>
              </a:rPr>
              <a:t/>
            </a:r>
            <a:br>
              <a:rPr lang="ar-EG" sz="3200" dirty="0" smtClean="0">
                <a:solidFill>
                  <a:srgbClr val="00467F"/>
                </a:solidFill>
                <a:latin typeface="Calibri"/>
              </a:rPr>
            </a:br>
            <a:r>
              <a:rPr sz="3200" dirty="0" smtClean="0">
                <a:solidFill>
                  <a:srgbClr val="00467F"/>
                </a:solidFill>
                <a:latin typeface="Calibri"/>
              </a:rPr>
              <a:t> </a:t>
            </a:r>
            <a:r>
              <a:rPr sz="5300" dirty="0">
                <a:solidFill>
                  <a:srgbClr val="00467F"/>
                </a:solidFill>
                <a:latin typeface="Calibri"/>
              </a:rPr>
              <a:t>S</a:t>
            </a:r>
            <a:r>
              <a:rPr sz="3200" dirty="0">
                <a:solidFill>
                  <a:srgbClr val="00467F"/>
                </a:solidFill>
                <a:latin typeface="Calibri"/>
              </a:rPr>
              <a:t>mart </a:t>
            </a:r>
            <a:r>
              <a:rPr sz="6700" dirty="0">
                <a:solidFill>
                  <a:srgbClr val="00467F"/>
                </a:solidFill>
                <a:latin typeface="Calibri"/>
              </a:rPr>
              <a:t>H</a:t>
            </a:r>
            <a:r>
              <a:rPr sz="3200" dirty="0">
                <a:solidFill>
                  <a:srgbClr val="00467F"/>
                </a:solidFill>
                <a:latin typeface="Calibri"/>
              </a:rPr>
              <a:t>ealthcare </a:t>
            </a:r>
            <a:r>
              <a:rPr sz="6700" dirty="0">
                <a:solidFill>
                  <a:srgbClr val="00467F"/>
                </a:solidFill>
                <a:latin typeface="Calibri"/>
              </a:rPr>
              <a:t>E</a:t>
            </a:r>
            <a:r>
              <a:rPr sz="3200" dirty="0">
                <a:solidFill>
                  <a:srgbClr val="00467F"/>
                </a:solidFill>
                <a:latin typeface="Calibri"/>
              </a:rPr>
              <a:t>ntry &amp; </a:t>
            </a:r>
            <a:r>
              <a:rPr sz="6700" dirty="0">
                <a:solidFill>
                  <a:srgbClr val="00467F"/>
                </a:solidFill>
                <a:latin typeface="Calibri"/>
              </a:rPr>
              <a:t>F</a:t>
            </a:r>
            <a:r>
              <a:rPr sz="3200" dirty="0">
                <a:solidFill>
                  <a:srgbClr val="00467F"/>
                </a:solidFill>
                <a:latin typeface="Calibri"/>
              </a:rPr>
              <a:t>acility </a:t>
            </a:r>
            <a:r>
              <a:rPr sz="6700" dirty="0">
                <a:solidFill>
                  <a:srgbClr val="00467F"/>
                </a:solidFill>
                <a:latin typeface="Calibri"/>
              </a:rPr>
              <a:t>A</a:t>
            </a:r>
            <a:r>
              <a:rPr sz="3200" dirty="0">
                <a:solidFill>
                  <a:srgbClr val="00467F"/>
                </a:solidFill>
                <a:latin typeface="Calibri"/>
              </a:rPr>
              <a:t>utomation </a:t>
            </a:r>
            <a:r>
              <a:rPr sz="6700" dirty="0">
                <a:solidFill>
                  <a:srgbClr val="00467F"/>
                </a:solidFill>
                <a:latin typeface="Calibri"/>
              </a:rPr>
              <a:t>A</a:t>
            </a:r>
            <a:r>
              <a:rPr sz="3200" dirty="0">
                <a:solidFill>
                  <a:srgbClr val="00467F"/>
                </a:solidFill>
                <a:latin typeface="Calibri"/>
              </a:rPr>
              <a:t>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6511" y="2923612"/>
            <a:ext cx="8532178" cy="1473200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tx2"/>
                </a:solidFill>
                <a:latin typeface="Calibri"/>
              </a:rPr>
              <a:t>Software </a:t>
            </a:r>
            <a:r>
              <a:rPr lang="en-US" sz="2800" dirty="0">
                <a:solidFill>
                  <a:schemeClr val="tx2"/>
                </a:solidFill>
                <a:latin typeface="Calibri"/>
              </a:rPr>
              <a:t>Engineering Project Presentation</a:t>
            </a:r>
          </a:p>
          <a:p>
            <a:endParaRPr lang="en-US" sz="2800" b="1" dirty="0" smtClean="0">
              <a:solidFill>
                <a:schemeClr val="accent3">
                  <a:lumMod val="50000"/>
                </a:schemeClr>
              </a:solidFill>
              <a:latin typeface="Calibri"/>
            </a:endParaRPr>
          </a:p>
          <a:p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Calibri"/>
              </a:rPr>
              <a:t>Supervised by / Dr. Samar Ashraf</a:t>
            </a:r>
            <a:endParaRPr sz="2800" b="1" dirty="0">
              <a:solidFill>
                <a:schemeClr val="accent3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 dirty="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44993"/>
            <a:ext cx="2983999" cy="2972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ContrastingRightFacing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3397393"/>
            <a:ext cx="2983999" cy="2972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ContrastingLeftFacing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solidFill>
                <a:srgbClr val="006666"/>
              </a:solidFill>
              <a:latin typeface="Calibri"/>
            </a:endParaRPr>
          </a:p>
          <a:p>
            <a:r>
              <a:rPr lang="en-US" sz="3000" u="sng" dirty="0">
                <a:solidFill>
                  <a:srgbClr val="006666"/>
                </a:solidFill>
                <a:latin typeface="Calibri"/>
              </a:rPr>
              <a:t>Team: TEAM 1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محمد أيمن فتحي عبد الغنى (</a:t>
            </a:r>
            <a:r>
              <a:rPr lang="en-US" b="1" dirty="0" smtClean="0">
                <a:solidFill>
                  <a:srgbClr val="006666"/>
                </a:solidFill>
                <a:latin typeface="Calibri"/>
              </a:rPr>
              <a:t>Leader</a:t>
            </a:r>
            <a:r>
              <a:rPr lang="en-US" dirty="0" smtClean="0">
                <a:solidFill>
                  <a:srgbClr val="006666"/>
                </a:solidFill>
                <a:latin typeface="Calibri"/>
              </a:rPr>
              <a:t>   ( </a:t>
            </a:r>
            <a:r>
              <a:rPr lang="en-US" dirty="0">
                <a:solidFill>
                  <a:srgbClr val="006666"/>
                </a:solidFill>
                <a:latin typeface="Calibri"/>
              </a:rPr>
              <a:t>921220115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محمد خالد سعد كامل منصور 921220117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عمر أمجد عبد العزيز عبد السلام 921220092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محمود صلاح عبد المعز حسن السلكاوي 921220139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كريم أحمد سعد محمد أبو العزم 921220105</a:t>
            </a:r>
          </a:p>
          <a:p>
            <a:r>
              <a:rPr lang="ar-EG" dirty="0">
                <a:solidFill>
                  <a:srgbClr val="006666"/>
                </a:solidFill>
                <a:latin typeface="Calibri"/>
              </a:rPr>
              <a:t>عمر هاني صابر فضل </a:t>
            </a:r>
            <a:r>
              <a:rPr lang="ar-EG" dirty="0" smtClean="0">
                <a:solidFill>
                  <a:srgbClr val="006666"/>
                </a:solidFill>
                <a:latin typeface="Calibri"/>
              </a:rPr>
              <a:t>921220099</a:t>
            </a:r>
            <a:endParaRPr lang="ar-EG" dirty="0">
              <a:solidFill>
                <a:srgbClr val="006666"/>
              </a:solidFill>
              <a:latin typeface="Calibri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Members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78387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006666"/>
                </a:solidFill>
                <a:latin typeface="Calibri"/>
              </a:rPr>
              <a:t>Overview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Problem Statement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System Requirements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System Design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Testing Strategy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Future Evolution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Conclusion</a:t>
            </a:r>
          </a:p>
          <a:p>
            <a:r>
              <a:rPr sz="2000" dirty="0">
                <a:solidFill>
                  <a:srgbClr val="006666"/>
                </a:solidFill>
                <a:latin typeface="Calibri"/>
              </a:rPr>
              <a:t>Q&amp;A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rgbClr val="00467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 dirty="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Project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Title: </a:t>
            </a:r>
            <a:r>
              <a:rPr lang="en-US" b="1" dirty="0">
                <a:solidFill>
                  <a:srgbClr val="006666"/>
                </a:solidFill>
                <a:latin typeface="Calibri"/>
              </a:rPr>
              <a:t>SHEFAA (Smart Healthcare Entry &amp; Facility Automation Assistant)</a:t>
            </a:r>
            <a:endParaRPr lang="en-US" sz="2000" b="1" dirty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Objective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: Automate hospital management with a focus on patient, doctor, and admin needs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Key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Features: Patient registration, appointment booking, medical history access, </a:t>
            </a:r>
            <a:r>
              <a:rPr lang="en-US" sz="2000" dirty="0" err="1">
                <a:solidFill>
                  <a:srgbClr val="006666"/>
                </a:solidFill>
                <a:latin typeface="Calibri"/>
              </a:rPr>
              <a:t>chatbot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 support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Target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Users: Patients, Doctors, </a:t>
            </a: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Administrator of hospital</a:t>
            </a:r>
            <a:endParaRPr lang="en-US" sz="2000" dirty="0">
              <a:solidFill>
                <a:srgbClr val="006666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67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0830"/>
            <a:ext cx="12188825" cy="427717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66"/>
                </a:solidFill>
                <a:latin typeface="Calibri"/>
              </a:rPr>
              <a:t>Hospital interface</a:t>
            </a:r>
            <a:endParaRPr lang="ar-EG" dirty="0"/>
          </a:p>
        </p:txBody>
      </p:sp>
      <p:sp>
        <p:nvSpPr>
          <p:cNvPr id="5" name="TextBox 4"/>
          <p:cNvSpPr txBox="1"/>
          <p:nvPr/>
        </p:nvSpPr>
        <p:spPr>
          <a:xfrm>
            <a:off x="79167" y="1826777"/>
            <a:ext cx="1862113" cy="7694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400" b="1" dirty="0" smtClean="0">
                <a:solidFill>
                  <a:schemeClr val="accent3">
                    <a:lumMod val="50000"/>
                  </a:schemeClr>
                </a:solidFill>
              </a:rPr>
              <a:t>LOG IN</a:t>
            </a:r>
            <a:endParaRPr lang="ar-EG" sz="4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55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1" y="2555193"/>
            <a:ext cx="12129004" cy="430280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66"/>
                </a:solidFill>
                <a:latin typeface="Calibri"/>
              </a:rPr>
              <a:t>Hospital interface</a:t>
            </a:r>
            <a:endParaRPr lang="ar-EG" dirty="0"/>
          </a:p>
        </p:txBody>
      </p:sp>
      <p:sp>
        <p:nvSpPr>
          <p:cNvPr id="5" name="TextBox 4"/>
          <p:cNvSpPr txBox="1"/>
          <p:nvPr/>
        </p:nvSpPr>
        <p:spPr>
          <a:xfrm>
            <a:off x="59821" y="1922804"/>
            <a:ext cx="265774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</a:rPr>
              <a:t>SIGN-UP</a:t>
            </a:r>
            <a:endParaRPr lang="ar-EG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42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1" y="2674938"/>
            <a:ext cx="12129003" cy="41830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Hospital interface</a:t>
            </a:r>
            <a:endParaRPr lang="ar-EG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821" y="1888621"/>
            <a:ext cx="4982198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 smtClean="0">
                <a:solidFill>
                  <a:schemeClr val="accent3">
                    <a:lumMod val="50000"/>
                  </a:schemeClr>
                </a:solidFill>
              </a:rPr>
              <a:t>Admin Dashboard</a:t>
            </a:r>
            <a:endParaRPr lang="ar-EG" sz="4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74938"/>
            <a:ext cx="12188824" cy="41830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66"/>
                </a:solidFill>
                <a:latin typeface="Calibri"/>
              </a:rPr>
              <a:t>Hospital interface</a:t>
            </a:r>
            <a:endParaRPr lang="ar-EG" dirty="0"/>
          </a:p>
        </p:txBody>
      </p:sp>
      <p:sp>
        <p:nvSpPr>
          <p:cNvPr id="4" name="TextBox 3"/>
          <p:cNvSpPr txBox="1"/>
          <p:nvPr/>
        </p:nvSpPr>
        <p:spPr>
          <a:xfrm>
            <a:off x="290557" y="1922804"/>
            <a:ext cx="467455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 smtClean="0">
                <a:solidFill>
                  <a:schemeClr val="accent3">
                    <a:lumMod val="50000"/>
                  </a:schemeClr>
                </a:solidFill>
              </a:rPr>
              <a:t>Doctor Dashboard</a:t>
            </a:r>
            <a:endParaRPr lang="ar-EG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81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938"/>
            <a:ext cx="12188825" cy="41830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>
                <a:solidFill>
                  <a:srgbClr val="006666"/>
                </a:solidFill>
                <a:latin typeface="Calibri"/>
              </a:rPr>
              <a:t>Hospital interface</a:t>
            </a:r>
            <a:endParaRPr lang="ar-EG" dirty="0"/>
          </a:p>
        </p:txBody>
      </p:sp>
      <p:sp>
        <p:nvSpPr>
          <p:cNvPr id="5" name="TextBox 4"/>
          <p:cNvSpPr txBox="1"/>
          <p:nvPr/>
        </p:nvSpPr>
        <p:spPr>
          <a:xfrm>
            <a:off x="85458" y="1888621"/>
            <a:ext cx="483692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 smtClean="0">
                <a:solidFill>
                  <a:schemeClr val="accent3">
                    <a:lumMod val="50000"/>
                  </a:schemeClr>
                </a:solidFill>
              </a:rPr>
              <a:t>Patient Dashboard</a:t>
            </a:r>
            <a:endParaRPr lang="ar-EG" sz="4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3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65" y="2579416"/>
            <a:ext cx="11710260" cy="424212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66"/>
                </a:solidFill>
                <a:latin typeface="Calibri"/>
              </a:rPr>
              <a:t>Hospital interface</a:t>
            </a:r>
            <a:endParaRPr lang="ar-EG" dirty="0"/>
          </a:p>
        </p:txBody>
      </p:sp>
      <p:sp>
        <p:nvSpPr>
          <p:cNvPr id="4" name="TextBox 3"/>
          <p:cNvSpPr txBox="1"/>
          <p:nvPr/>
        </p:nvSpPr>
        <p:spPr>
          <a:xfrm>
            <a:off x="162370" y="1871529"/>
            <a:ext cx="699046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 smtClean="0">
                <a:solidFill>
                  <a:schemeClr val="accent3">
                    <a:lumMod val="50000"/>
                  </a:schemeClr>
                </a:solidFill>
              </a:rPr>
              <a:t>Booking Appointment</a:t>
            </a:r>
            <a:endParaRPr lang="ar-EG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3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96" y="1951347"/>
            <a:ext cx="11953186" cy="4637989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Challenges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1- Manual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patient registration, 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scheduling.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2- record-keeping Frequent delays. 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3- data discrepancies.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4- Long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wait times and lack of appointment 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transparency.</a:t>
            </a:r>
          </a:p>
          <a:p>
            <a:pPr marL="0" indent="0" algn="l">
              <a:buNone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Impact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1- Reduced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patient satisfaction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2- Increased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healthcare quality 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issues Communication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breakdowns and human errors</a:t>
            </a:r>
          </a:p>
          <a:p>
            <a:pPr marL="0" indent="0" algn="l"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</a:rPr>
              <a:t>Solution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SHEFAA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A smart, centralized Hospital Management System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rgbClr val="00467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 dirty="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3407992" y="5646654"/>
            <a:ext cx="383421" cy="52522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ar-EG" sz="2000" dirty="0" smtClean="0">
                <a:solidFill>
                  <a:schemeClr val="bg2">
                    <a:lumMod val="50000"/>
                  </a:schemeClr>
                </a:solidFill>
                <a:latin typeface="Calibri"/>
              </a:rPr>
              <a:t> </a:t>
            </a:r>
          </a:p>
          <a:p>
            <a:pPr marL="0" indent="0" algn="l">
              <a:buNone/>
            </a:pPr>
            <a:endParaRPr sz="200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rgbClr val="00467F"/>
                </a:solidFill>
                <a:latin typeface="Calibri"/>
              </a:rP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 dirty="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91916"/>
            <a:ext cx="11858324" cy="5366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467F"/>
                </a:solidFill>
                <a:latin typeface="Calibri"/>
              </a:rPr>
              <a:t>System Requirements</a:t>
            </a:r>
            <a:endParaRPr lang="ar-EG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5556"/>
            <a:ext cx="12113443" cy="429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68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5" y="1824524"/>
            <a:ext cx="11632677" cy="466771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System Design</a:t>
            </a:r>
            <a:endParaRPr sz="40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62" y="1116638"/>
            <a:ext cx="54298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 smtClean="0">
                <a:solidFill>
                  <a:schemeClr val="accent3">
                    <a:lumMod val="50000"/>
                  </a:schemeClr>
                </a:solidFill>
              </a:rPr>
              <a:t>USE-CASE DIAGRAM</a:t>
            </a:r>
            <a:endParaRPr lang="ar-EG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System Design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65" y="1783536"/>
            <a:ext cx="10935060" cy="50744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3377" y="952107"/>
            <a:ext cx="388384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 smtClean="0">
                <a:solidFill>
                  <a:schemeClr val="accent3">
                    <a:lumMod val="50000"/>
                  </a:schemeClr>
                </a:solidFill>
              </a:rPr>
              <a:t>ER Diagram</a:t>
            </a:r>
            <a:endParaRPr lang="ar-EG" sz="4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60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System Design</a:t>
            </a:r>
            <a:endParaRPr lang="ar-EG" dirty="0"/>
          </a:p>
        </p:txBody>
      </p:sp>
      <p:sp>
        <p:nvSpPr>
          <p:cNvPr id="5" name="Rectangle 4"/>
          <p:cNvSpPr/>
          <p:nvPr/>
        </p:nvSpPr>
        <p:spPr>
          <a:xfrm>
            <a:off x="270139" y="1242091"/>
            <a:ext cx="52254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accent3">
                    <a:lumMod val="50000"/>
                  </a:schemeClr>
                </a:solidFill>
              </a:rPr>
              <a:t>RELATIONAL MODEL</a:t>
            </a:r>
            <a:endParaRPr lang="ar-EG" sz="4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01" y="1923068"/>
            <a:ext cx="11274458" cy="493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08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System Design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285778" y="1406390"/>
            <a:ext cx="3847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chemeClr val="accent3">
                    <a:lumMod val="50000"/>
                  </a:schemeClr>
                </a:solidFill>
              </a:rPr>
              <a:t>Activity Diagram</a:t>
            </a:r>
            <a:endParaRPr lang="ar-EG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6" y="2394408"/>
            <a:ext cx="11510127" cy="373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4144" y="6249971"/>
            <a:ext cx="1108592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Activity diagram High Quality : </a:t>
            </a:r>
            <a:r>
              <a:rPr lang="en-US" b="1" u="sng" dirty="0">
                <a:solidFill>
                  <a:srgbClr val="FFC000"/>
                </a:solidFill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click the link and download </a:t>
            </a:r>
            <a:r>
              <a:rPr lang="en-US" dirty="0"/>
              <a:t>Activity diagram for High Quality</a:t>
            </a:r>
            <a:br>
              <a:rPr lang="en-US" dirty="0"/>
            </a:br>
            <a:r>
              <a:rPr lang="en-US" dirty="0"/>
              <a:t>{ </a:t>
            </a:r>
            <a:r>
              <a:rPr lang="en-US" u="sng" dirty="0">
                <a:hlinkClick r:id="rId3"/>
              </a:rPr>
              <a:t>https://drive.google.com/file/d/1TdmAyYR5l3x722_ZqerIxIvtu9m7ZV53/view?usp=drive_link</a:t>
            </a:r>
            <a:r>
              <a:rPr lang="en-US" dirty="0"/>
              <a:t>  }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90767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8148" y="234633"/>
            <a:ext cx="10969943" cy="1252728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rgbClr val="FFC000"/>
                </a:solidFill>
              </a:rPr>
              <a:t>Class Diagram</a:t>
            </a:r>
            <a:endParaRPr lang="ar-EG" sz="6000" dirty="0">
              <a:solidFill>
                <a:srgbClr val="FFC000"/>
              </a:solidFill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16" y="1591057"/>
            <a:ext cx="11491275" cy="4479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6181" y="6039927"/>
            <a:ext cx="1132159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Class diagram High Quality : </a:t>
            </a:r>
            <a:r>
              <a:rPr lang="en-US" b="1" u="sng" dirty="0">
                <a:solidFill>
                  <a:srgbClr val="FFC000"/>
                </a:solidFill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click the link and download </a:t>
            </a:r>
            <a:r>
              <a:rPr lang="en-US" dirty="0"/>
              <a:t>Class diagram for High Quality{</a:t>
            </a:r>
            <a:r>
              <a:rPr lang="en-US" u="sng" dirty="0">
                <a:hlinkClick r:id="rId3"/>
              </a:rPr>
              <a:t>https://drive.google.com/file/d/1FkM8FV5xWTAh-qLEL0l2yT6RvccktvsK/view?usp=drive_link</a:t>
            </a:r>
            <a:r>
              <a:rPr lang="en-US" dirty="0"/>
              <a:t> }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4205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Patient Sequence Diagram</a:t>
            </a:r>
            <a:endParaRPr lang="ar-EG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089" y="1270342"/>
            <a:ext cx="5373278" cy="537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4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64" y="1280160"/>
            <a:ext cx="4724559" cy="557784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Doctor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Sequence Diagram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67652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620" y="1290770"/>
            <a:ext cx="4236420" cy="541290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Admin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Sequence Diagram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716917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460" y="1880390"/>
            <a:ext cx="4046433" cy="447469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06666"/>
                </a:solidFill>
                <a:latin typeface="Calibri"/>
              </a:rPr>
              <a:t>Approach: TDD, Black-box, White-box testing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Types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: Unit, Integration, System, Usability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Quality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Factors: Correctness, Usability, Maintainability</a:t>
            </a:r>
          </a:p>
          <a:p>
            <a:pPr marL="0" indent="0" algn="l">
              <a:buNone/>
            </a:pPr>
            <a:endParaRPr sz="2000" dirty="0">
              <a:solidFill>
                <a:srgbClr val="006666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rgbClr val="00467F"/>
                </a:solidFill>
                <a:latin typeface="Calibri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948015" y="2546441"/>
            <a:ext cx="6751178" cy="36065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>
              <a:spcBef>
                <a:spcPct val="0"/>
              </a:spcBef>
            </a:pPr>
            <a:r>
              <a:rPr lang="en-US" dirty="0" smtClean="0">
                <a:solidFill>
                  <a:srgbClr val="006666"/>
                </a:solidFill>
                <a:latin typeface="Calibri"/>
              </a:rPr>
              <a:t>Black-box</a:t>
            </a:r>
            <a:br>
              <a:rPr lang="en-US" dirty="0" smtClean="0">
                <a:solidFill>
                  <a:srgbClr val="006666"/>
                </a:solidFill>
                <a:latin typeface="Calibri"/>
              </a:rPr>
            </a:br>
            <a:r>
              <a:rPr lang="en-US" b="1" dirty="0"/>
              <a:t>Boundary Value Testing</a:t>
            </a:r>
            <a:r>
              <a:rPr lang="en-US" dirty="0"/>
              <a:t>: Tested limits </a:t>
            </a:r>
            <a:r>
              <a:rPr lang="en-US" dirty="0" smtClean="0"/>
              <a:t> </a:t>
            </a:r>
            <a:r>
              <a:rPr lang="en-US" dirty="0"/>
              <a:t>age inputs </a:t>
            </a:r>
            <a:r>
              <a:rPr lang="en-US" dirty="0" smtClean="0"/>
              <a:t>( 1,120</a:t>
            </a:r>
            <a:r>
              <a:rPr lang="en-US" dirty="0"/>
              <a:t>, 121).</a:t>
            </a:r>
            <a:r>
              <a:rPr lang="en-US" sz="1600" dirty="0"/>
              <a:t/>
            </a:r>
            <a:br>
              <a:rPr lang="en-US" sz="1600" dirty="0"/>
            </a:br>
            <a:endParaRPr lang="ar-EG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4184"/>
            <a:ext cx="2768837" cy="488381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837" y="1829847"/>
            <a:ext cx="4130675" cy="5028153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040" y="1829847"/>
            <a:ext cx="4375785" cy="5117883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449" y="1829846"/>
            <a:ext cx="2902513" cy="50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07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67F"/>
                </a:solidFill>
                <a:latin typeface="Calibri"/>
              </a:rPr>
              <a:t>Future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pic>
        <p:nvPicPr>
          <p:cNvPr id="102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598" y="2922662"/>
            <a:ext cx="9134004" cy="3000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Summary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: SHEFAA improves efficiency, security, and accessibility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Achievements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: Comprehensive design, </a:t>
            </a: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and 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testing</a:t>
            </a:r>
          </a:p>
          <a:p>
            <a:pPr marL="0" indent="0" algn="l">
              <a:buNone/>
            </a:pPr>
            <a:endParaRPr lang="en-US" sz="2000" dirty="0" smtClean="0">
              <a:solidFill>
                <a:srgbClr val="006666"/>
              </a:solidFill>
              <a:latin typeface="Calibri"/>
            </a:endParaRPr>
          </a:p>
          <a:p>
            <a:pPr marL="0" indent="0" algn="l">
              <a:buNone/>
            </a:pPr>
            <a:r>
              <a:rPr lang="ar-EG" sz="2000" dirty="0" smtClean="0">
                <a:solidFill>
                  <a:srgbClr val="006666"/>
                </a:solidFill>
                <a:latin typeface="Calibri"/>
              </a:rPr>
              <a:t>ز</a:t>
            </a:r>
            <a:r>
              <a:rPr lang="en-US" sz="2000" dirty="0" smtClean="0">
                <a:solidFill>
                  <a:srgbClr val="006666"/>
                </a:solidFill>
                <a:latin typeface="Calibri"/>
              </a:rPr>
              <a:t>Next </a:t>
            </a:r>
            <a:r>
              <a:rPr lang="en-US" sz="2000" dirty="0">
                <a:solidFill>
                  <a:srgbClr val="006666"/>
                </a:solidFill>
                <a:latin typeface="Calibri"/>
              </a:rPr>
              <a:t>Steps: Full implementation, multi-branch support</a:t>
            </a:r>
          </a:p>
          <a:p>
            <a:pPr marL="0" indent="0" algn="l">
              <a:buNone/>
            </a:pPr>
            <a:endParaRPr sz="2000" dirty="0">
              <a:solidFill>
                <a:srgbClr val="006666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67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THANK YOU! </a:t>
            </a:r>
          </a:p>
          <a:p>
            <a:pPr marL="0" indent="0" algn="ctr">
              <a:buNone/>
            </a:pPr>
            <a:endParaRPr lang="en-US" sz="7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67F"/>
                </a:solidFill>
                <a:latin typeface="Calibr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200">
                <a:solidFill>
                  <a:srgbClr val="006666"/>
                </a:solidFill>
                <a:latin typeface="Calibri"/>
              </a:defRPr>
            </a:pPr>
            <a:r>
              <a:rPr sz="2000">
                <a:solidFill>
                  <a:srgbClr val="006666"/>
                </a:solidFill>
                <a:latin typeface="Calibri"/>
              </a:rPr>
              <a:t>SHEFAA - Team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174" y="3519313"/>
            <a:ext cx="2983999" cy="2972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Moderately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206</TotalTime>
  <Words>374</Words>
  <Application>Microsoft Office PowerPoint</Application>
  <PresentationFormat>Custom</PresentationFormat>
  <Paragraphs>107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Waveform</vt:lpstr>
      <vt:lpstr>SHEFAA  Smart Healthcare Entry &amp; Facility Automation Assistant</vt:lpstr>
      <vt:lpstr>Team Members</vt:lpstr>
      <vt:lpstr>Agenda</vt:lpstr>
      <vt:lpstr>Overview</vt:lpstr>
      <vt:lpstr>Hospital interface</vt:lpstr>
      <vt:lpstr>Hospital interface</vt:lpstr>
      <vt:lpstr>Hospital interface</vt:lpstr>
      <vt:lpstr>Hospital interface</vt:lpstr>
      <vt:lpstr>Hospital interface</vt:lpstr>
      <vt:lpstr>Hospital interface</vt:lpstr>
      <vt:lpstr>Problem Statement</vt:lpstr>
      <vt:lpstr>System Requirements</vt:lpstr>
      <vt:lpstr>System Requirements</vt:lpstr>
      <vt:lpstr>System Design</vt:lpstr>
      <vt:lpstr>System Design</vt:lpstr>
      <vt:lpstr>System Design</vt:lpstr>
      <vt:lpstr>System Design</vt:lpstr>
      <vt:lpstr>Class Diagram</vt:lpstr>
      <vt:lpstr>Patient Sequence Diagram</vt:lpstr>
      <vt:lpstr>Doctor Sequence Diagram</vt:lpstr>
      <vt:lpstr>Admin Sequence Diagram</vt:lpstr>
      <vt:lpstr>Testing Strategy</vt:lpstr>
      <vt:lpstr>Black-box Boundary Value Testing: Tested limits  age inputs ( 1,120, 121). </vt:lpstr>
      <vt:lpstr>Future Evolution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SHEFAA: Smart Healthcare Entry &amp; Facility Automation Assistant</dc:title>
  <dc:subject/>
  <dc:creator/>
  <cp:keywords/>
  <dc:description>generated using python-pptx</dc:description>
  <cp:lastModifiedBy>huawei</cp:lastModifiedBy>
  <cp:revision>30</cp:revision>
  <dcterms:created xsi:type="dcterms:W3CDTF">2013-01-27T09:14:16Z</dcterms:created>
  <dcterms:modified xsi:type="dcterms:W3CDTF">2025-05-16T23:44:08Z</dcterms:modified>
  <cp:category/>
</cp:coreProperties>
</file>